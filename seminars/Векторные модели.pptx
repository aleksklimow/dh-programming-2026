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512FE8-5D2D-4B9F-A571-C92F125E4BF6}">
  <a:tblStyle styleId="{64512FE8-5D2D-4B9F-A571-C92F125E4B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fdd3d528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9fdd3d528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fdd3d528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9fdd3d528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9fdd3d52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9fdd3d52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9fdd3d528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9fdd3d52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fdd3d528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fdd3d528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fdd3d528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9fdd3d528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fdd3d528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fdd3d528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fdd3d528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9fdd3d528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9fdd3d528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9fdd3d528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9fdd3d528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9fdd3d528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9fdd3d52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9fdd3d52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9fdd3d528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9fdd3d528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fdd3d528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9fdd3d528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9fdd3d52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9fdd3d52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9fdd3d528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9fdd3d528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fdd3d528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fdd3d528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9fdd3d528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9fdd3d528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9fdd3d528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9fdd3d528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9fdd3d528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9fdd3d528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fdd3d528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fdd3d528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9fdd3d528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9fdd3d528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9fdd3d528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9fdd3d528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fdd3d528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9fdd3d528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9fdd3d5288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9fdd3d528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9fdd3d5288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9fdd3d5288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9fdd3d5288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9fdd3d528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a0365d23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a0365d23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9fdd3d5288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9fdd3d5288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wolframalpha.com/input?i=CosineDistance%5B%7B1%2C+0%2C+0%2C+0%2C+1%2C+1%2C+0%2C+1%2C+0%2C+0%2C+0%7D%2C+%7B0%2C+0%2C+0%2C+0%2C+0%2C+0%2C+0%2C+1%2C+1%2C+1%2C+1%7D%5D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habr.com/ru/articles/326380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Модели текста: мешок слов, частоты, tf-idf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Модели обработки слова, связанные с частотами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Любой текст можно представить в виде математического объекта (например, вектора), чтобы он мог быть прочитан машиной. Зачем нам вообще нужно собирать статистику по тексту или обращать в вектор тексты?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Простая статистика: словники, частотники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Классификация документов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Извлечение информации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Частоты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Абсолютная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Относительная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ipm – items per million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Краткий экскурс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u"/>
              <a:t>Мешок слов (Bag of Words; BOW):</a:t>
            </a:r>
            <a:r>
              <a:rPr lang="ru"/>
              <a:t> модель предложена лингвистом Зеллигом Харрисом в 1954 году; считает количество вхождений каждого слова в документах и использует их как признаки (features) для обучения моделей;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u"/>
              <a:t>TF-IDF </a:t>
            </a:r>
            <a:r>
              <a:rPr lang="ru"/>
              <a:t>[1972]: разработана Карен Джоунс. Это мера, модифицирующая значения BOW так, что редкие слова получают более высокие значения, а более частые – более низкие значения.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u"/>
              <a:t>Word2Vec</a:t>
            </a:r>
            <a:r>
              <a:rPr lang="ru"/>
              <a:t> [2013]: предложена Томашем Миколовым. В этой модели каждое слово преобразуется в вектор (эмбеддинг = векторное представление слова, word embedding), который пытается “ухватить” семантику этого слова. Этот эмбеддинг получается посредством нейронной сети, находящей корреляции слов в большом корпусе.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RNNs, трансформеры… 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Мешок слов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963" y="1017725"/>
            <a:ext cx="7020074" cy="403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820"/>
              <a:t>Мешок слов: удобный подход к превращению текста в набор чисел</a:t>
            </a:r>
            <a:endParaRPr sz="1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Как можно превратить текст в машиночитаемый набор чисел?</a:t>
            </a:r>
            <a:endParaRPr/>
          </a:p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Закодировать каждое слово по порядковому номеру.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Мешок слов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Представим, что весь наш корпус состоит из 4 токенов, каждый из которых повторился только один раз: МАМА, МЫЛА, РАМУ, КОШКУ. Как нам их закодировать, какие есть варианты?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Мешок слов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начала нужно создать словарь из наших токенов: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1: “МАМА”,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2: “МЫЛА”,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3: “РАМУ”,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4: “КОШКУ”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}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Мешок слов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После чего можно начать кодировать частоты: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1: “МАМА”,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2: “МЫЛА”,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3: “РАМУ”,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4: “КОШКУ”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}</a:t>
            </a:r>
            <a:endParaRPr/>
          </a:p>
        </p:txBody>
      </p:sp>
      <p:cxnSp>
        <p:nvCxnSpPr>
          <p:cNvPr id="114" name="Google Shape;114;p21"/>
          <p:cNvCxnSpPr/>
          <p:nvPr/>
        </p:nvCxnSpPr>
        <p:spPr>
          <a:xfrm flipH="1" rot="10800000">
            <a:off x="1752100" y="2230425"/>
            <a:ext cx="2022300" cy="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5" name="Google Shape;115;p21"/>
          <p:cNvGraphicFramePr/>
          <p:nvPr/>
        </p:nvGraphicFramePr>
        <p:xfrm>
          <a:off x="3977000" y="199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6" name="Google Shape;116;p21"/>
          <p:cNvCxnSpPr/>
          <p:nvPr/>
        </p:nvCxnSpPr>
        <p:spPr>
          <a:xfrm flipH="1" rot="10800000">
            <a:off x="1752100" y="2752300"/>
            <a:ext cx="2022300" cy="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21"/>
          <p:cNvCxnSpPr/>
          <p:nvPr/>
        </p:nvCxnSpPr>
        <p:spPr>
          <a:xfrm flipH="1" rot="10800000">
            <a:off x="1802300" y="3167225"/>
            <a:ext cx="2022300" cy="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1"/>
          <p:cNvCxnSpPr/>
          <p:nvPr/>
        </p:nvCxnSpPr>
        <p:spPr>
          <a:xfrm flipH="1" rot="10800000">
            <a:off x="1802300" y="3650200"/>
            <a:ext cx="2022300" cy="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9" name="Google Shape;119;p21"/>
          <p:cNvGraphicFramePr/>
          <p:nvPr/>
        </p:nvGraphicFramePr>
        <p:xfrm>
          <a:off x="3977000" y="251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0" name="Google Shape;120;p21"/>
          <p:cNvGraphicFramePr/>
          <p:nvPr/>
        </p:nvGraphicFramePr>
        <p:xfrm>
          <a:off x="3977000" y="305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1" name="Google Shape;121;p21"/>
          <p:cNvGraphicFramePr/>
          <p:nvPr/>
        </p:nvGraphicFramePr>
        <p:xfrm>
          <a:off x="3977000" y="359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One-hot-encoding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После чего можно начать кодировать: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{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1: “МАМА”,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2: “МЫЛА”,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3: “РАМУ”,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4: “КОШКУ”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}</a:t>
            </a:r>
            <a:endParaRPr sz="1600"/>
          </a:p>
        </p:txBody>
      </p:sp>
      <p:graphicFrame>
        <p:nvGraphicFramePr>
          <p:cNvPr id="129" name="Google Shape;129;p22"/>
          <p:cNvGraphicFramePr/>
          <p:nvPr/>
        </p:nvGraphicFramePr>
        <p:xfrm>
          <a:off x="1565675" y="190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0" name="Google Shape;130;p22"/>
          <p:cNvGraphicFramePr/>
          <p:nvPr/>
        </p:nvGraphicFramePr>
        <p:xfrm>
          <a:off x="1565675" y="237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1" name="Google Shape;131;p22"/>
          <p:cNvGraphicFramePr/>
          <p:nvPr/>
        </p:nvGraphicFramePr>
        <p:xfrm>
          <a:off x="1565675" y="283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2" name="Google Shape;132;p22"/>
          <p:cNvGraphicFramePr/>
          <p:nvPr/>
        </p:nvGraphicFramePr>
        <p:xfrm>
          <a:off x="1565675" y="330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" name="Google Shape;13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будет закодирован текст </a:t>
            </a:r>
            <a:r>
              <a:rPr lang="ru"/>
              <a:t>“Мама мыла раму”</a:t>
            </a:r>
            <a:r>
              <a:rPr lang="ru"/>
              <a:t> в нашем корпусе, исходя из частот слева?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Вектор текста “Мама мыла кошку”</a:t>
            </a:r>
            <a:endParaRPr/>
          </a:p>
        </p:txBody>
      </p:sp>
      <p:graphicFrame>
        <p:nvGraphicFramePr>
          <p:cNvPr id="134" name="Google Shape;134;p22"/>
          <p:cNvGraphicFramePr/>
          <p:nvPr/>
        </p:nvGraphicFramePr>
        <p:xfrm>
          <a:off x="6258725" y="177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91325"/>
                <a:gridCol w="491325"/>
                <a:gridCol w="491325"/>
                <a:gridCol w="49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5" name="Google Shape;135;p22"/>
          <p:cNvGraphicFramePr/>
          <p:nvPr/>
        </p:nvGraphicFramePr>
        <p:xfrm>
          <a:off x="6201500" y="283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429575"/>
                <a:gridCol w="429600"/>
                <a:gridCol w="429600"/>
                <a:gridCol w="676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Посчитаем на более сложном примере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 корпус, состоящий из следующих текстов: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Книга нудная и долгая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Эта книга кошмарно скучная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Эта книга лучшая за последнее время книга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Токены в нашем корпусе (11 типов токенов всего): </a:t>
            </a:r>
            <a:r>
              <a:rPr i="1" lang="ru"/>
              <a:t>книга, нудная, и, долгая, эта, кошмарно, скучная, лучшая, за, последнее, время</a:t>
            </a:r>
            <a:endParaRPr i="1"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Мешок слов: векторы текста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Книга нудная и долгая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Эта книга кошмарно скучная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Эта книга лучшая за последнее время книга</a:t>
            </a:r>
            <a:endParaRPr sz="1600"/>
          </a:p>
        </p:txBody>
      </p:sp>
      <p:graphicFrame>
        <p:nvGraphicFramePr>
          <p:cNvPr id="150" name="Google Shape;150;p24"/>
          <p:cNvGraphicFramePr/>
          <p:nvPr/>
        </p:nvGraphicFramePr>
        <p:xfrm>
          <a:off x="311738" y="228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Текст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книга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нудная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долгая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эта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кошмарно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скучная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лучшая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последнее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время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Длина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текста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24"/>
          <p:cNvSpPr txBox="1"/>
          <p:nvPr/>
        </p:nvSpPr>
        <p:spPr>
          <a:xfrm>
            <a:off x="311750" y="417510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Даже здесь вы видите много ноликов. В большом корпусе с длинными документами таких ноликов будет ещё больше. Такие вектора называются разреженными и являются одним из недостатков этой модели, который нужно исправлять.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Мешок слов: векторы текста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Книга нудная и долгая: вектор – [1,1,1,1,0,0,0,0,0,0,0]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Эта книга кошмарно скучная: вектор – [1, 0, 0, 0, 1, 1, 1, 0, 0, 0, 0]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Эта книга лучшая за последнее время книга: вектор – [2, 0, 0, 0, 1, 0, 0, 1, 1, 1, 1]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9" name="Google Shape;159;p25"/>
          <p:cNvGraphicFramePr/>
          <p:nvPr/>
        </p:nvGraphicFramePr>
        <p:xfrm>
          <a:off x="311738" y="228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Текст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книга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нудная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долгая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эта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кошмарно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скучная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лучшая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последнее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время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Длина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текста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Мешок слов: какие свойства BOW вы видите здесь?</a:t>
            </a:r>
            <a:endParaRPr sz="2420"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Какой вектор будет у следующих текстов: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Эта книга кошмарно лучшая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Лучшая за последнее время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Книга эта и лучшая и нудная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За последнее время лучшая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" name="Google Shape;167;p26"/>
          <p:cNvGraphicFramePr/>
          <p:nvPr/>
        </p:nvGraphicFramePr>
        <p:xfrm>
          <a:off x="311725" y="303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Текст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книга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нудная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долгая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эта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кошмарно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скучная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лучшая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последнее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время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Длина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текста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Векторы: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[1, 0, 0, 0, 1, 1, 0, 1, 0, 0, 0]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[0, 0, 0, 0, 0, 0, 0, 1, 1, 1, 1]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[1, 1, 2, 0, 1, 0, 0, 1, 0, 0, 0]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[0, 0, 0, 0, 0, 0, 0, 1, 1, 1, 1]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Мешок слов: свойства и недостатки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152475"/>
            <a:ext cx="8520600" cy="4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Учитывает частоту слов;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Неупорядоченная коллекция слов, по своей сути являющейся векторным пространством;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Не учитывает грамматику, порядок слов, но учитывает количество употреблений (частоту);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Не справится с новыми текстами, в которых будут новые слова (случится out of vocabulary);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Ортогональность векторов (перпендикулярность на графике, косинусное расстояние может оказаться большим даже для текстов, которые человек воспринял бы похожими);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Нужен для классификации документов (частота появления слова используется как признак для модели): использовался в фильтрации почты;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 Может использоваться для составления частотников;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NB! можно строить мешок не только на токенах, но и на н-граммах (тогда мы чуть-чуть учитываем семантику слов (как?)).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NB2! есть два варианта: one-hot-encoding, когда мы фиксируем только наличие токена в документе и, собственно, классический мешок слов, где в векторе фиксируется частота</a:t>
            </a:r>
            <a:endParaRPr sz="1400"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Измерение расстояние между векторами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можно измерить расстояние между векторами?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Косинусное расстояние: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Посмотрим на наши тексты здесь: </a:t>
            </a:r>
            <a:r>
              <a:rPr lang="ru" u="sng">
                <a:solidFill>
                  <a:schemeClr val="hlink"/>
                </a:solidFill>
                <a:hlinkClick r:id="rId3"/>
              </a:rPr>
              <a:t>wolphramalpha.com</a:t>
            </a:r>
            <a:endParaRPr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120" y="2780275"/>
            <a:ext cx="3527050" cy="85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961" y="1106525"/>
            <a:ext cx="3566775" cy="35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tf-idf: text frequency – </a:t>
            </a:r>
            <a:r>
              <a:rPr lang="ru" sz="1920"/>
              <a:t>term frequency–inverse document frequency</a:t>
            </a:r>
            <a:endParaRPr sz="1920"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tf-idf решает одну из главных проблем BOW – отсутствие </a:t>
            </a:r>
            <a:r>
              <a:rPr lang="ru"/>
              <a:t>учета</a:t>
            </a:r>
            <a:r>
              <a:rPr lang="ru"/>
              <a:t> важности слов.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Она учитывает как частоту токена в документе, так и его распределение частоты по корпусу: вес некоторого слова пропорционален частоте употребления этого слова в документе и обратно пропорционален частоте употребления слова во всех документах коллекции. idf таким образом </a:t>
            </a:r>
            <a:r>
              <a:rPr lang="ru"/>
              <a:t>снижает</a:t>
            </a:r>
            <a:r>
              <a:rPr lang="ru"/>
              <a:t> вес частотных слов в коллекции.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где tf – частота токена в документе (т.е. процент употреблений этого токена от всех токенов в документе), а idf – обратно пропорциональное значение частоты токена в корпусе.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что означает логарифм числа документов в коллекции, поделенного на число документов в коллекции, в котором встречается наш токен.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675" y="1152476"/>
            <a:ext cx="4913826" cy="2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599" y="2493005"/>
            <a:ext cx="4641748" cy="5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Применения tf-idf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Извлечение информации: т.к. tf-idf назначает веса не просто по частотам, но и по встречаемости/специфичности для текстов, то можно настроить нашу модель поисковика так, чтобы мы находили наиболее релевантные тексты в коллекции, учитывая вес слова (ещё в 2015 году 83% рекомендательных систем использовали tf-idf).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Извлечение ключевых слов.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Классификация текстов.</a:t>
            </a:r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tf-idf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311700" y="1142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Даны два текста: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Книга ужасно нудная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Фильм ужасно скучный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Всего 5 уникальных токенов.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Подсчитаем</a:t>
            </a:r>
            <a:r>
              <a:rPr lang="ru"/>
              <a:t> частоту слов в двух наших текстах: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0" name="Google Shape;210;p31"/>
          <p:cNvGraphicFramePr/>
          <p:nvPr/>
        </p:nvGraphicFramePr>
        <p:xfrm>
          <a:off x="437375" y="352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книга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ужасно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нудная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скучный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1" name="Google Shape;211;p31"/>
          <p:cNvSpPr txBox="1"/>
          <p:nvPr/>
        </p:nvSpPr>
        <p:spPr>
          <a:xfrm>
            <a:off x="4274775" y="402450"/>
            <a:ext cx="3722400" cy="21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NB! в тексте </a:t>
            </a:r>
            <a:r>
              <a:rPr i="1" lang="ru" sz="1800">
                <a:solidFill>
                  <a:schemeClr val="dk2"/>
                </a:solidFill>
              </a:rPr>
              <a:t>“Вася любит собак и кошек а Наташа любит собак кошек и черепах”</a:t>
            </a:r>
            <a:r>
              <a:rPr lang="ru" sz="1800">
                <a:solidFill>
                  <a:schemeClr val="dk2"/>
                </a:solidFill>
              </a:rPr>
              <a:t> всего 12 токенов. </a:t>
            </a:r>
            <a:r>
              <a:rPr b="1" lang="ru" sz="1800">
                <a:solidFill>
                  <a:schemeClr val="dk2"/>
                </a:solidFill>
              </a:rPr>
              <a:t>tf </a:t>
            </a:r>
            <a:r>
              <a:rPr lang="ru" sz="1800">
                <a:solidFill>
                  <a:schemeClr val="dk2"/>
                </a:solidFill>
              </a:rPr>
              <a:t>токена </a:t>
            </a:r>
            <a:r>
              <a:rPr i="1" lang="ru" sz="1800">
                <a:solidFill>
                  <a:schemeClr val="dk2"/>
                </a:solidFill>
              </a:rPr>
              <a:t>“любит”</a:t>
            </a:r>
            <a:r>
              <a:rPr lang="ru" sz="1800">
                <a:solidFill>
                  <a:schemeClr val="dk2"/>
                </a:solidFill>
              </a:rPr>
              <a:t> здесь </a:t>
            </a:r>
            <a:r>
              <a:rPr b="1" lang="ru" sz="1800">
                <a:solidFill>
                  <a:schemeClr val="dk2"/>
                </a:solidFill>
              </a:rPr>
              <a:t>2/12=</a:t>
            </a:r>
            <a:r>
              <a:rPr b="1" lang="ru" sz="1800">
                <a:solidFill>
                  <a:schemeClr val="dk2"/>
                </a:solidFill>
              </a:rPr>
              <a:t>1/6</a:t>
            </a:r>
            <a:r>
              <a:rPr b="1" lang="ru" sz="1800">
                <a:solidFill>
                  <a:schemeClr val="dk2"/>
                </a:solidFill>
              </a:rPr>
              <a:t>. </a:t>
            </a:r>
            <a:r>
              <a:rPr lang="ru" sz="1800">
                <a:solidFill>
                  <a:schemeClr val="dk2"/>
                </a:solidFill>
              </a:rPr>
              <a:t>Какой </a:t>
            </a:r>
            <a:r>
              <a:rPr b="1" lang="ru" sz="1800">
                <a:solidFill>
                  <a:schemeClr val="dk2"/>
                </a:solidFill>
              </a:rPr>
              <a:t>tf </a:t>
            </a:r>
            <a:r>
              <a:rPr lang="ru" sz="1800">
                <a:solidFill>
                  <a:schemeClr val="dk2"/>
                </a:solidFill>
              </a:rPr>
              <a:t>у токенов </a:t>
            </a:r>
            <a:r>
              <a:rPr i="1" lang="ru" sz="1800">
                <a:solidFill>
                  <a:schemeClr val="dk2"/>
                </a:solidFill>
              </a:rPr>
              <a:t>“собак”, “черепах”, “кошек”</a:t>
            </a:r>
            <a:r>
              <a:rPr lang="ru" sz="1800">
                <a:solidFill>
                  <a:schemeClr val="dk2"/>
                </a:solidFill>
              </a:rPr>
              <a:t>?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idf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Даны два текста: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Книга ужасно нудная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Фильм ужасно скучный</a:t>
            </a:r>
            <a:endParaRPr/>
          </a:p>
        </p:txBody>
      </p:sp>
      <p:graphicFrame>
        <p:nvGraphicFramePr>
          <p:cNvPr id="219" name="Google Shape;219;p32"/>
          <p:cNvGraphicFramePr/>
          <p:nvPr/>
        </p:nvGraphicFramePr>
        <p:xfrm>
          <a:off x="437375" y="352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книга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ужасно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нудная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скучный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674" y="699224"/>
            <a:ext cx="3204049" cy="16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tf-idf = произведение tf и idf, поэтому перемножим </a:t>
            </a:r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8" name="Google Shape;228;p33"/>
          <p:cNvGraphicFramePr/>
          <p:nvPr/>
        </p:nvGraphicFramePr>
        <p:xfrm>
          <a:off x="2721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книга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ужасно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нудная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скучный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1/3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9" name="Google Shape;229;p33"/>
          <p:cNvGraphicFramePr/>
          <p:nvPr/>
        </p:nvGraphicFramePr>
        <p:xfrm>
          <a:off x="272150" y="220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книга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ужасно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нудная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скучный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log(2/1) =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log(2/2) = 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log(2/1)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30" name="Google Shape;230;p33"/>
          <p:cNvGraphicFramePr/>
          <p:nvPr/>
        </p:nvGraphicFramePr>
        <p:xfrm>
          <a:off x="272150" y="360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книга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ужасно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нудная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скучный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0.33*0.693 =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0.231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0.33*0 = 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0.33*0.693 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0.231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0.33*0 = 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0.33*0.693 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0.231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0.33*0.693 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0.231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tf-idf</a:t>
            </a:r>
            <a:endParaRPr/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И это тоже вектор:</a:t>
            </a:r>
            <a:endParaRPr/>
          </a:p>
        </p:txBody>
      </p:sp>
      <p:graphicFrame>
        <p:nvGraphicFramePr>
          <p:cNvPr id="238" name="Google Shape;238;p34"/>
          <p:cNvGraphicFramePr/>
          <p:nvPr/>
        </p:nvGraphicFramePr>
        <p:xfrm>
          <a:off x="612325" y="187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{64512FE8-5D2D-4B9F-A571-C92F125E4BF6}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книга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ужасно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нудная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скучный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0.231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0.231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Документ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0.231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0.231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Недостатки</a:t>
            </a:r>
            <a:endParaRPr/>
          </a:p>
        </p:txBody>
      </p:sp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 учитывает порядок слов;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Также будут проблемы с out of vocabulary;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 работает с семантикой отдельных слов (но можно делать на n-граммах, что несколько исправляет ситуацию).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Даны три текста: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Учитель любит своих учеников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Учеников нам надо больше а то учитель бездельничает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Учитель также очень любит кошек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Посчитайте вектора для модели BOW и tf-idf. Какое косинусное расстояние между ними?</a:t>
            </a:r>
            <a:endParaRPr/>
          </a:p>
        </p:txBody>
      </p:sp>
      <p:pic>
        <p:nvPicPr>
          <p:cNvPr id="253" name="Google Shape;2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Модели, учитывающие семантику</a:t>
            </a:r>
            <a:endParaRPr/>
          </a:p>
        </p:txBody>
      </p:sp>
      <p:sp>
        <p:nvSpPr>
          <p:cNvPr id="259" name="Google Shape;25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word2vec;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RNNs;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Трансформеры.</a:t>
            </a:r>
            <a:endParaRPr/>
          </a:p>
        </p:txBody>
      </p:sp>
      <p:pic>
        <p:nvPicPr>
          <p:cNvPr id="260" name="Google Shape;2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Word2vec</a:t>
            </a:r>
            <a:endParaRPr/>
          </a:p>
        </p:txBody>
      </p:sp>
      <p:sp>
        <p:nvSpPr>
          <p:cNvPr id="266" name="Google Shape;266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Нейронные модели, получающие векторные представления слов и учитывающие семантику этих слов.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Эта модель генерирует словарь по корпусу и вычисляет вектора, обучаясь на входных текстах. Эти вектора основываются на контекстной близости: слова, встречающиеся в тексте рядом с одинаковыми словами (и, что часто верно, похожи по смыслу), будут иметь близкие по косинусному расстоянию векторы.</a:t>
            </a:r>
            <a:endParaRPr/>
          </a:p>
        </p:txBody>
      </p:sp>
      <p:sp>
        <p:nvSpPr>
          <p:cNvPr id="267" name="Google Shape;267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Учитывает семантику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Не справляется с out of vocabulary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Не учитывает порядок слов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Может использоваться в сравнении текстов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Может использоваться в поиске плагиата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Может использоваться для поиска схожих слов</a:t>
            </a:r>
            <a:endParaRPr/>
          </a:p>
        </p:txBody>
      </p:sp>
      <p:pic>
        <p:nvPicPr>
          <p:cNvPr id="268" name="Google Shape;26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word2vec</a:t>
            </a:r>
            <a:endParaRPr/>
          </a:p>
        </p:txBody>
      </p:sp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825" y="407400"/>
            <a:ext cx="6276658" cy="43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word2vec</a:t>
            </a:r>
            <a:endParaRPr/>
          </a:p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317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Как вы думаете, каким образом word2vec учитывает контексты?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Он учитывает соседство, учитывая окно (например, два слова слева и два слова справа).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0"/>
          <p:cNvSpPr txBox="1"/>
          <p:nvPr>
            <p:ph idx="2" type="body"/>
          </p:nvPr>
        </p:nvSpPr>
        <p:spPr>
          <a:xfrm>
            <a:off x="3618925" y="1152475"/>
            <a:ext cx="52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Допустим, что у нас в коллекции 1 текст:	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ru"/>
              <a:t>Скучная книга писателя пролетела мимо меня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Его лемматизированная версия: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ru"/>
              <a:t>скучный книга</a:t>
            </a:r>
            <a:r>
              <a:rPr lang="ru"/>
              <a:t> </a:t>
            </a:r>
            <a:r>
              <a:rPr b="1" lang="ru"/>
              <a:t>писатель </a:t>
            </a:r>
            <a:r>
              <a:rPr i="1" lang="ru"/>
              <a:t>пролететь </a:t>
            </a:r>
            <a:r>
              <a:rPr i="1" lang="ru"/>
              <a:t>мимо</a:t>
            </a:r>
            <a:r>
              <a:rPr lang="ru"/>
              <a:t> 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Прогнозируемое слово – </a:t>
            </a:r>
            <a:r>
              <a:rPr b="1" lang="ru"/>
              <a:t>писатель</a:t>
            </a:r>
            <a:r>
              <a:rPr lang="ru"/>
              <a:t>. Расс</a:t>
            </a:r>
            <a:r>
              <a:rPr lang="ru"/>
              <a:t>ч</a:t>
            </a:r>
            <a:r>
              <a:rPr lang="ru"/>
              <a:t>итаем пары для него: писатель скучный, писатель книга, писатель пролететь, писатель мимо.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Для прогнозируемого слова </a:t>
            </a:r>
            <a:r>
              <a:rPr b="1" lang="ru"/>
              <a:t>пролететь</a:t>
            </a:r>
            <a:r>
              <a:rPr lang="ru"/>
              <a:t>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ru" sz="1200"/>
              <a:t>скучный </a:t>
            </a:r>
            <a:r>
              <a:rPr i="1" lang="ru" sz="1200"/>
              <a:t>книга</a:t>
            </a:r>
            <a:r>
              <a:rPr lang="ru" sz="1200"/>
              <a:t> </a:t>
            </a:r>
            <a:r>
              <a:rPr i="1" lang="ru" sz="1200"/>
              <a:t>писатель </a:t>
            </a:r>
            <a:r>
              <a:rPr b="1" i="1" lang="ru"/>
              <a:t>пролететь </a:t>
            </a:r>
            <a:r>
              <a:rPr i="1" lang="ru" sz="1200"/>
              <a:t>мимо</a:t>
            </a:r>
            <a:r>
              <a:rPr lang="ru" sz="1200"/>
              <a:t> </a:t>
            </a:r>
            <a:r>
              <a:rPr i="1" lang="ru" sz="1200"/>
              <a:t>я</a:t>
            </a:r>
            <a:r>
              <a:rPr lang="ru" sz="1200"/>
              <a:t>	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ru"/>
              <a:t>Пары следующие: пролететь книга, пролететь писатель, пролететь мимо, пролететь 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Дальше модель определяет истинные и ложные пары.</a:t>
            </a:r>
            <a:endParaRPr/>
          </a:p>
        </p:txBody>
      </p:sp>
      <p:pic>
        <p:nvPicPr>
          <p:cNvPr id="285" name="Google Shape;28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</a:t>
            </a:r>
            <a:endParaRPr/>
          </a:p>
        </p:txBody>
      </p:sp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https://habr.com/ru/articles/326380/</a:t>
            </a:r>
            <a:r>
              <a:rPr lang="ru"/>
              <a:t> – забавное применение модели.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328" y="178450"/>
            <a:ext cx="78887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